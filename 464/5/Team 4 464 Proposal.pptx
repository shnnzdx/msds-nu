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287/msom.2020.0939"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6ee64ff2b_1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e6ee64ff2b_1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5" name="Google Shape;55;g3e6ee64ff2b_1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6ee64ff2b_1_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e6ee64ff2b_1_1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Oroojlooyjadid, Asfhin, et al. 2021. “A deep q-network for the beer game: Deep reinforcement learning for inventory optimization.” </a:t>
            </a:r>
            <a:r>
              <a:rPr i="1" lang="en" sz="1200">
                <a:solidFill>
                  <a:schemeClr val="dk1"/>
                </a:solidFill>
              </a:rPr>
              <a:t>Manufacturing &amp; Service Operations Management </a:t>
            </a:r>
            <a:r>
              <a:rPr lang="en" sz="1200">
                <a:solidFill>
                  <a:schemeClr val="dk1"/>
                </a:solidFill>
              </a:rPr>
              <a:t>24 (1): 285-04. </a:t>
            </a:r>
            <a:r>
              <a:rPr lang="en" sz="1200" u="sng">
                <a:solidFill>
                  <a:schemeClr val="hlink"/>
                </a:solidFill>
                <a:hlinkClick r:id="rId2"/>
              </a:rPr>
              <a:t>https://doi.org/10.1287/msom.2020.0939</a:t>
            </a:r>
            <a:r>
              <a:rPr lang="en" sz="1200">
                <a:solidFill>
                  <a:schemeClr val="dk1"/>
                </a:solidFill>
              </a:rPr>
              <a:t> </a:t>
            </a:r>
            <a:endParaRPr sz="1200">
              <a:solidFill>
                <a:schemeClr val="dk1"/>
              </a:solidFill>
              <a:latin typeface="Arial"/>
              <a:ea typeface="Arial"/>
              <a:cs typeface="Arial"/>
              <a:sym typeface="Arial"/>
            </a:endParaRPr>
          </a:p>
        </p:txBody>
      </p:sp>
      <p:sp>
        <p:nvSpPr>
          <p:cNvPr id="72" name="Google Shape;72;g3e6ee64ff2b_1_1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6ee64ff2b_1_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g3e6ee64ff2b_1_4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4" name="Google Shape;94;g3e6ee64ff2b_1_4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6ee64ff2b_1_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e6ee64ff2b_1_6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5" name="Google Shape;115;g3e6ee64ff2b_1_6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56" name="Shape 56"/>
        <p:cNvGrpSpPr/>
        <p:nvPr/>
      </p:nvGrpSpPr>
      <p:grpSpPr>
        <a:xfrm>
          <a:off x="0" y="0"/>
          <a:ext cx="0" cy="0"/>
          <a:chOff x="0" y="0"/>
          <a:chExt cx="0" cy="0"/>
        </a:xfrm>
      </p:grpSpPr>
      <p:sp>
        <p:nvSpPr>
          <p:cNvPr id="57" name="Google Shape;57;p15"/>
          <p:cNvSpPr/>
          <p:nvPr/>
        </p:nvSpPr>
        <p:spPr>
          <a:xfrm>
            <a:off x="0" y="0"/>
            <a:ext cx="109728" cy="5143500"/>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15"/>
          <p:cNvSpPr/>
          <p:nvPr/>
        </p:nvSpPr>
        <p:spPr>
          <a:xfrm>
            <a:off x="548640" y="457200"/>
            <a:ext cx="640080" cy="640080"/>
          </a:xfrm>
          <a:prstGeom prst="ellipse">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9" name="Google Shape;59;p15"/>
          <p:cNvPicPr preferRelativeResize="0"/>
          <p:nvPr/>
        </p:nvPicPr>
        <p:blipFill rotWithShape="1">
          <a:blip r:embed="rId3">
            <a:alphaModFix/>
          </a:blip>
          <a:srcRect b="0" l="0" r="0" t="0"/>
          <a:stretch/>
        </p:blipFill>
        <p:spPr>
          <a:xfrm>
            <a:off x="658368" y="566928"/>
            <a:ext cx="420624" cy="420624"/>
          </a:xfrm>
          <a:prstGeom prst="rect">
            <a:avLst/>
          </a:prstGeom>
          <a:noFill/>
          <a:ln>
            <a:noFill/>
          </a:ln>
        </p:spPr>
      </p:pic>
      <p:sp>
        <p:nvSpPr>
          <p:cNvPr id="60" name="Google Shape;60;p15"/>
          <p:cNvSpPr/>
          <p:nvPr/>
        </p:nvSpPr>
        <p:spPr>
          <a:xfrm>
            <a:off x="548640" y="1371600"/>
            <a:ext cx="7772400" cy="137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3200"/>
              <a:buFont typeface="Georgia"/>
              <a:buNone/>
            </a:pPr>
            <a:r>
              <a:rPr b="1" lang="en" sz="3200">
                <a:solidFill>
                  <a:srgbClr val="FFFFFF"/>
                </a:solidFill>
                <a:latin typeface="Georgia"/>
                <a:ea typeface="Georgia"/>
                <a:cs typeface="Georgia"/>
                <a:sym typeface="Georgia"/>
              </a:rPr>
              <a:t>Reinforcement Learning for</a:t>
            </a:r>
            <a:endParaRPr sz="32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3200"/>
              <a:buFont typeface="Georgia"/>
              <a:buNone/>
            </a:pPr>
            <a:r>
              <a:rPr b="1" lang="en" sz="3200">
                <a:solidFill>
                  <a:srgbClr val="FFFFFF"/>
                </a:solidFill>
                <a:latin typeface="Georgia"/>
                <a:ea typeface="Georgia"/>
                <a:cs typeface="Georgia"/>
                <a:sym typeface="Georgia"/>
              </a:rPr>
              <a:t>Inventory Management Under</a:t>
            </a:r>
            <a:endParaRPr sz="32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3200"/>
              <a:buFont typeface="Georgia"/>
              <a:buNone/>
            </a:pPr>
            <a:r>
              <a:rPr b="1" lang="en" sz="3200">
                <a:solidFill>
                  <a:srgbClr val="FFFFFF"/>
                </a:solidFill>
                <a:latin typeface="Georgia"/>
                <a:ea typeface="Georgia"/>
                <a:cs typeface="Georgia"/>
                <a:sym typeface="Georgia"/>
              </a:rPr>
              <a:t>Demand Uncertainty</a:t>
            </a:r>
            <a:endParaRPr sz="3200">
              <a:solidFill>
                <a:schemeClr val="dk1"/>
              </a:solidFill>
              <a:latin typeface="Calibri"/>
              <a:ea typeface="Calibri"/>
              <a:cs typeface="Calibri"/>
              <a:sym typeface="Calibri"/>
            </a:endParaRPr>
          </a:p>
        </p:txBody>
      </p:sp>
      <p:sp>
        <p:nvSpPr>
          <p:cNvPr id="61" name="Google Shape;61;p15"/>
          <p:cNvSpPr/>
          <p:nvPr/>
        </p:nvSpPr>
        <p:spPr>
          <a:xfrm>
            <a:off x="548640" y="288036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19B"/>
              </a:buClr>
              <a:buSzPts val="1300"/>
              <a:buFont typeface="Calibri"/>
              <a:buNone/>
            </a:pPr>
            <a:r>
              <a:rPr lang="en" sz="1300">
                <a:solidFill>
                  <a:srgbClr val="14919B"/>
                </a:solidFill>
                <a:latin typeface="Calibri"/>
                <a:ea typeface="Calibri"/>
                <a:cs typeface="Calibri"/>
                <a:sym typeface="Calibri"/>
              </a:rPr>
              <a:t>MSDS 464 — Intelligent Systems &amp; Robotics  |  Final Project Proposal</a:t>
            </a:r>
            <a:endParaRPr sz="1300">
              <a:solidFill>
                <a:srgbClr val="14919B"/>
              </a:solidFill>
              <a:latin typeface="Calibri"/>
              <a:ea typeface="Calibri"/>
              <a:cs typeface="Calibri"/>
              <a:sym typeface="Calibri"/>
            </a:endParaRPr>
          </a:p>
          <a:p>
            <a:pPr indent="0" lvl="0" marL="0" marR="0" rtl="0" algn="l">
              <a:spcBef>
                <a:spcPts val="0"/>
              </a:spcBef>
              <a:spcAft>
                <a:spcPts val="0"/>
              </a:spcAft>
              <a:buClr>
                <a:srgbClr val="14919B"/>
              </a:buClr>
              <a:buSzPts val="1300"/>
              <a:buFont typeface="Calibri"/>
              <a:buNone/>
            </a:pPr>
            <a:r>
              <a:rPr lang="en" sz="1300">
                <a:solidFill>
                  <a:srgbClr val="14919B"/>
                </a:solidFill>
                <a:latin typeface="Calibri"/>
                <a:ea typeface="Calibri"/>
                <a:cs typeface="Calibri"/>
                <a:sym typeface="Calibri"/>
              </a:rPr>
              <a:t>Team 4: Marco Siliezar, Dixin Zhang, Liyi Wu, Runzhe Wu</a:t>
            </a:r>
            <a:endParaRPr sz="1300">
              <a:solidFill>
                <a:srgbClr val="14919B"/>
              </a:solidFill>
              <a:latin typeface="Calibri"/>
              <a:ea typeface="Calibri"/>
              <a:cs typeface="Calibri"/>
              <a:sym typeface="Calibri"/>
            </a:endParaRPr>
          </a:p>
        </p:txBody>
      </p:sp>
      <p:cxnSp>
        <p:nvCxnSpPr>
          <p:cNvPr id="62" name="Google Shape;62;p15"/>
          <p:cNvCxnSpPr/>
          <p:nvPr/>
        </p:nvCxnSpPr>
        <p:spPr>
          <a:xfrm>
            <a:off x="548640" y="3383280"/>
            <a:ext cx="3200400" cy="0"/>
          </a:xfrm>
          <a:prstGeom prst="straightConnector1">
            <a:avLst/>
          </a:prstGeom>
          <a:noFill/>
          <a:ln cap="flat" cmpd="sng" w="19050">
            <a:solidFill>
              <a:srgbClr val="0D7377"/>
            </a:solidFill>
            <a:prstDash val="solid"/>
            <a:round/>
            <a:headEnd len="sm" w="sm" type="none"/>
            <a:tailEnd len="sm" w="sm" type="none"/>
          </a:ln>
        </p:spPr>
      </p:cxnSp>
      <p:sp>
        <p:nvSpPr>
          <p:cNvPr id="63" name="Google Shape;63;p15"/>
          <p:cNvSpPr/>
          <p:nvPr/>
        </p:nvSpPr>
        <p:spPr>
          <a:xfrm>
            <a:off x="548640" y="3611880"/>
            <a:ext cx="3840480" cy="12344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15"/>
          <p:cNvSpPr/>
          <p:nvPr/>
        </p:nvSpPr>
        <p:spPr>
          <a:xfrm>
            <a:off x="777240" y="37033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19B"/>
              </a:buClr>
              <a:buSzPts val="1000"/>
              <a:buFont typeface="Calibri"/>
              <a:buNone/>
            </a:pPr>
            <a:r>
              <a:rPr b="1" lang="en" sz="1000">
                <a:solidFill>
                  <a:srgbClr val="14919B"/>
                </a:solidFill>
                <a:latin typeface="Calibri"/>
                <a:ea typeface="Calibri"/>
                <a:cs typeface="Calibri"/>
                <a:sym typeface="Calibri"/>
              </a:rPr>
              <a:t>THE PROBLEM</a:t>
            </a:r>
            <a:endParaRPr sz="1000">
              <a:solidFill>
                <a:schemeClr val="dk1"/>
              </a:solidFill>
              <a:latin typeface="Calibri"/>
              <a:ea typeface="Calibri"/>
              <a:cs typeface="Calibri"/>
              <a:sym typeface="Calibri"/>
            </a:endParaRPr>
          </a:p>
        </p:txBody>
      </p:sp>
      <p:sp>
        <p:nvSpPr>
          <p:cNvPr id="65" name="Google Shape;65;p15"/>
          <p:cNvSpPr/>
          <p:nvPr/>
        </p:nvSpPr>
        <p:spPr>
          <a:xfrm>
            <a:off x="777240" y="3977640"/>
            <a:ext cx="3474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EF2"/>
              </a:buClr>
              <a:buSzPts val="1100"/>
              <a:buFont typeface="Calibri"/>
              <a:buNone/>
            </a:pPr>
            <a:r>
              <a:rPr lang="en" sz="1100">
                <a:solidFill>
                  <a:srgbClr val="E8EEF2"/>
                </a:solidFill>
                <a:latin typeface="Calibri"/>
                <a:ea typeface="Calibri"/>
                <a:cs typeface="Calibri"/>
                <a:sym typeface="Calibri"/>
              </a:rPr>
              <a:t>In retail inventory management, enterprises need to determine the order quantity for each cycle. However, customer demand is inherently uncertain.</a:t>
            </a:r>
            <a:endParaRPr sz="1100">
              <a:solidFill>
                <a:schemeClr val="dk1"/>
              </a:solidFill>
              <a:latin typeface="Calibri"/>
              <a:ea typeface="Calibri"/>
              <a:cs typeface="Calibri"/>
              <a:sym typeface="Calibri"/>
            </a:endParaRPr>
          </a:p>
        </p:txBody>
      </p:sp>
      <p:sp>
        <p:nvSpPr>
          <p:cNvPr id="66" name="Google Shape;66;p15"/>
          <p:cNvSpPr/>
          <p:nvPr/>
        </p:nvSpPr>
        <p:spPr>
          <a:xfrm>
            <a:off x="4754880" y="3611880"/>
            <a:ext cx="3840480" cy="12344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15"/>
          <p:cNvSpPr/>
          <p:nvPr/>
        </p:nvSpPr>
        <p:spPr>
          <a:xfrm>
            <a:off x="4983480" y="37033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19B"/>
              </a:buClr>
              <a:buSzPts val="1000"/>
              <a:buFont typeface="Calibri"/>
              <a:buNone/>
            </a:pPr>
            <a:r>
              <a:rPr b="1" lang="en" sz="1000">
                <a:solidFill>
                  <a:srgbClr val="14919B"/>
                </a:solidFill>
                <a:latin typeface="Calibri"/>
                <a:ea typeface="Calibri"/>
                <a:cs typeface="Calibri"/>
                <a:sym typeface="Calibri"/>
              </a:rPr>
              <a:t>WHY REINFORCEMENT LEARNING</a:t>
            </a:r>
            <a:endParaRPr sz="1000">
              <a:solidFill>
                <a:schemeClr val="dk1"/>
              </a:solidFill>
              <a:latin typeface="Calibri"/>
              <a:ea typeface="Calibri"/>
              <a:cs typeface="Calibri"/>
              <a:sym typeface="Calibri"/>
            </a:endParaRPr>
          </a:p>
        </p:txBody>
      </p:sp>
      <p:sp>
        <p:nvSpPr>
          <p:cNvPr id="68" name="Google Shape;68;p15"/>
          <p:cNvSpPr/>
          <p:nvPr/>
        </p:nvSpPr>
        <p:spPr>
          <a:xfrm>
            <a:off x="4983480" y="3977640"/>
            <a:ext cx="3474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EF2"/>
              </a:buClr>
              <a:buSzPts val="1100"/>
              <a:buFont typeface="Calibri"/>
              <a:buNone/>
            </a:pPr>
            <a:r>
              <a:rPr lang="en" sz="1100">
                <a:solidFill>
                  <a:srgbClr val="E8EEF2"/>
                </a:solidFill>
                <a:latin typeface="Calibri"/>
                <a:ea typeface="Calibri"/>
                <a:cs typeface="Calibri"/>
                <a:sym typeface="Calibri"/>
              </a:rPr>
              <a:t>This is a typical sequential decision-making problem, since inventory decisions made one period affect the state of affairs in the next, as well as long-term overall cost.</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5F9"/>
        </a:solidFill>
      </p:bgPr>
    </p:bg>
    <p:spTree>
      <p:nvGrpSpPr>
        <p:cNvPr id="73" name="Shape 73"/>
        <p:cNvGrpSpPr/>
        <p:nvPr/>
      </p:nvGrpSpPr>
      <p:grpSpPr>
        <a:xfrm>
          <a:off x="0" y="0"/>
          <a:ext cx="0" cy="0"/>
          <a:chOff x="0" y="0"/>
          <a:chExt cx="0" cy="0"/>
        </a:xfrm>
      </p:grpSpPr>
      <p:sp>
        <p:nvSpPr>
          <p:cNvPr id="74" name="Google Shape;74;p16"/>
          <p:cNvSpPr/>
          <p:nvPr/>
        </p:nvSpPr>
        <p:spPr>
          <a:xfrm>
            <a:off x="0" y="0"/>
            <a:ext cx="109728" cy="5143500"/>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16"/>
          <p:cNvSpPr/>
          <p:nvPr/>
        </p:nvSpPr>
        <p:spPr>
          <a:xfrm>
            <a:off x="457200" y="320040"/>
            <a:ext cx="502920" cy="502920"/>
          </a:xfrm>
          <a:prstGeom prst="ellipse">
            <a:avLst/>
          </a:prstGeom>
          <a:solidFill>
            <a:srgbClr val="E0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6" name="Google Shape;76;p16"/>
          <p:cNvPicPr preferRelativeResize="0"/>
          <p:nvPr/>
        </p:nvPicPr>
        <p:blipFill rotWithShape="1">
          <a:blip r:embed="rId3">
            <a:alphaModFix/>
          </a:blip>
          <a:srcRect b="0" l="0" r="0" t="0"/>
          <a:stretch/>
        </p:blipFill>
        <p:spPr>
          <a:xfrm>
            <a:off x="548640" y="411480"/>
            <a:ext cx="320040" cy="320040"/>
          </a:xfrm>
          <a:prstGeom prst="rect">
            <a:avLst/>
          </a:prstGeom>
          <a:noFill/>
          <a:ln>
            <a:noFill/>
          </a:ln>
        </p:spPr>
      </p:pic>
      <p:sp>
        <p:nvSpPr>
          <p:cNvPr id="77" name="Google Shape;77;p16"/>
          <p:cNvSpPr/>
          <p:nvPr/>
        </p:nvSpPr>
        <p:spPr>
          <a:xfrm>
            <a:off x="1097280" y="320040"/>
            <a:ext cx="6400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2800"/>
              <a:buFont typeface="Georgia"/>
              <a:buNone/>
            </a:pPr>
            <a:r>
              <a:rPr b="1" lang="en" sz="2800">
                <a:solidFill>
                  <a:srgbClr val="1B2A4A"/>
                </a:solidFill>
                <a:latin typeface="Georgia"/>
                <a:ea typeface="Georgia"/>
                <a:cs typeface="Georgia"/>
                <a:sym typeface="Georgia"/>
              </a:rPr>
              <a:t>Literature Review / Background</a:t>
            </a:r>
            <a:endParaRPr sz="2800">
              <a:solidFill>
                <a:schemeClr val="dk1"/>
              </a:solidFill>
              <a:latin typeface="Calibri"/>
              <a:ea typeface="Calibri"/>
              <a:cs typeface="Calibri"/>
              <a:sym typeface="Calibri"/>
            </a:endParaRPr>
          </a:p>
        </p:txBody>
      </p:sp>
      <p:sp>
        <p:nvSpPr>
          <p:cNvPr id="78" name="Google Shape;78;p16"/>
          <p:cNvSpPr/>
          <p:nvPr/>
        </p:nvSpPr>
        <p:spPr>
          <a:xfrm>
            <a:off x="457200" y="1097280"/>
            <a:ext cx="2560320" cy="27432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 sz="1050">
                <a:solidFill>
                  <a:srgbClr val="334155"/>
                </a:solidFill>
                <a:latin typeface="Calibri"/>
                <a:ea typeface="Calibri"/>
                <a:cs typeface="Calibri"/>
                <a:sym typeface="Calibri"/>
              </a:rPr>
              <a:t>The traditional approach to inventory management usually involves using the newsvendor model or other analytical methods to determine the optimal order quantity.</a:t>
            </a:r>
            <a:endParaRPr/>
          </a:p>
          <a:p>
            <a:pPr indent="0" lvl="0" marL="0" marR="0" rtl="0" algn="l">
              <a:spcBef>
                <a:spcPts val="0"/>
              </a:spcBef>
              <a:spcAft>
                <a:spcPts val="0"/>
              </a:spcAft>
              <a:buNone/>
            </a:pPr>
            <a:r>
              <a:t/>
            </a:r>
            <a:endParaRPr sz="1050">
              <a:solidFill>
                <a:srgbClr val="334155"/>
              </a:solidFill>
              <a:latin typeface="Calibri"/>
              <a:ea typeface="Calibri"/>
              <a:cs typeface="Calibri"/>
              <a:sym typeface="Calibri"/>
            </a:endParaRPr>
          </a:p>
          <a:p>
            <a:pPr indent="0" lvl="0" marL="0" marR="0" rtl="0" algn="l">
              <a:spcBef>
                <a:spcPts val="0"/>
              </a:spcBef>
              <a:spcAft>
                <a:spcPts val="0"/>
              </a:spcAft>
              <a:buNone/>
            </a:pPr>
            <a:r>
              <a:rPr lang="en" sz="1050">
                <a:solidFill>
                  <a:srgbClr val="334155"/>
                </a:solidFill>
                <a:latin typeface="Calibri"/>
                <a:ea typeface="Calibri"/>
                <a:cs typeface="Calibri"/>
                <a:sym typeface="Calibri"/>
              </a:rPr>
              <a:t>The analytical method is highly efficient and easy to explain when the demand distribution is known, the environment is stable and the assumptions are simple.</a:t>
            </a:r>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p:txBody>
      </p:sp>
      <p:sp>
        <p:nvSpPr>
          <p:cNvPr id="79" name="Google Shape;79;p16"/>
          <p:cNvSpPr/>
          <p:nvPr/>
        </p:nvSpPr>
        <p:spPr>
          <a:xfrm>
            <a:off x="457200" y="1097280"/>
            <a:ext cx="2560320" cy="54864"/>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16"/>
          <p:cNvSpPr/>
          <p:nvPr/>
        </p:nvSpPr>
        <p:spPr>
          <a:xfrm>
            <a:off x="640080" y="128016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lang="en" sz="1300">
                <a:solidFill>
                  <a:srgbClr val="1B2A4A"/>
                </a:solidFill>
                <a:latin typeface="Calibri"/>
                <a:ea typeface="Calibri"/>
                <a:cs typeface="Calibri"/>
                <a:sym typeface="Calibri"/>
              </a:rPr>
              <a:t>Classical OR Methods</a:t>
            </a:r>
            <a:endParaRPr sz="1300">
              <a:solidFill>
                <a:schemeClr val="dk1"/>
              </a:solidFill>
              <a:latin typeface="Calibri"/>
              <a:ea typeface="Calibri"/>
              <a:cs typeface="Calibri"/>
              <a:sym typeface="Calibri"/>
            </a:endParaRPr>
          </a:p>
        </p:txBody>
      </p:sp>
      <p:sp>
        <p:nvSpPr>
          <p:cNvPr id="81" name="Google Shape;81;p16"/>
          <p:cNvSpPr/>
          <p:nvPr/>
        </p:nvSpPr>
        <p:spPr>
          <a:xfrm>
            <a:off x="640080" y="1645920"/>
            <a:ext cx="2194560" cy="1965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82" name="Google Shape;82;p16"/>
          <p:cNvSpPr/>
          <p:nvPr/>
        </p:nvSpPr>
        <p:spPr>
          <a:xfrm>
            <a:off x="3291840" y="1097280"/>
            <a:ext cx="2560320" cy="27432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16"/>
          <p:cNvSpPr/>
          <p:nvPr/>
        </p:nvSpPr>
        <p:spPr>
          <a:xfrm>
            <a:off x="3291840" y="1097280"/>
            <a:ext cx="2560320" cy="54864"/>
          </a:xfrm>
          <a:prstGeom prst="rect">
            <a:avLst/>
          </a:prstGeom>
          <a:solidFill>
            <a:srgbClr val="D9770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16"/>
          <p:cNvSpPr/>
          <p:nvPr/>
        </p:nvSpPr>
        <p:spPr>
          <a:xfrm>
            <a:off x="3474720" y="128016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lang="en" sz="1300">
                <a:solidFill>
                  <a:srgbClr val="1B2A4A"/>
                </a:solidFill>
                <a:latin typeface="Calibri"/>
                <a:ea typeface="Calibri"/>
                <a:cs typeface="Calibri"/>
                <a:sym typeface="Calibri"/>
              </a:rPr>
              <a:t>Limitations</a:t>
            </a:r>
            <a:endParaRPr sz="1300">
              <a:solidFill>
                <a:schemeClr val="dk1"/>
              </a:solidFill>
              <a:latin typeface="Calibri"/>
              <a:ea typeface="Calibri"/>
              <a:cs typeface="Calibri"/>
              <a:sym typeface="Calibri"/>
            </a:endParaRPr>
          </a:p>
        </p:txBody>
      </p:sp>
      <p:sp>
        <p:nvSpPr>
          <p:cNvPr id="85" name="Google Shape;85;p16"/>
          <p:cNvSpPr/>
          <p:nvPr/>
        </p:nvSpPr>
        <p:spPr>
          <a:xfrm>
            <a:off x="3474720" y="1645920"/>
            <a:ext cx="2194560" cy="1965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1050">
                <a:solidFill>
                  <a:srgbClr val="334155"/>
                </a:solidFill>
                <a:latin typeface="Calibri"/>
                <a:ea typeface="Calibri"/>
                <a:cs typeface="Calibri"/>
                <a:sym typeface="Calibri"/>
              </a:rPr>
              <a:t>The analytical solution may become invalid or no longer optimal when the demand becomes non-stationary or more complex, or when the real conditions deviate from the theoretical assumptions.</a:t>
            </a:r>
            <a:endParaRPr/>
          </a:p>
        </p:txBody>
      </p:sp>
      <p:sp>
        <p:nvSpPr>
          <p:cNvPr id="86" name="Google Shape;86;p16"/>
          <p:cNvSpPr/>
          <p:nvPr/>
        </p:nvSpPr>
        <p:spPr>
          <a:xfrm>
            <a:off x="6126480" y="1097280"/>
            <a:ext cx="2560320" cy="27432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16"/>
          <p:cNvSpPr/>
          <p:nvPr/>
        </p:nvSpPr>
        <p:spPr>
          <a:xfrm>
            <a:off x="6126480" y="1097280"/>
            <a:ext cx="2560320" cy="54864"/>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16"/>
          <p:cNvSpPr/>
          <p:nvPr/>
        </p:nvSpPr>
        <p:spPr>
          <a:xfrm>
            <a:off x="6309360" y="128016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lang="en" sz="1300">
                <a:solidFill>
                  <a:srgbClr val="1B2A4A"/>
                </a:solidFill>
                <a:latin typeface="Calibri"/>
                <a:ea typeface="Calibri"/>
                <a:cs typeface="Calibri"/>
                <a:sym typeface="Calibri"/>
              </a:rPr>
              <a:t>RL Motivation</a:t>
            </a:r>
            <a:endParaRPr sz="1300">
              <a:solidFill>
                <a:schemeClr val="dk1"/>
              </a:solidFill>
              <a:latin typeface="Calibri"/>
              <a:ea typeface="Calibri"/>
              <a:cs typeface="Calibri"/>
              <a:sym typeface="Calibri"/>
            </a:endParaRPr>
          </a:p>
        </p:txBody>
      </p:sp>
      <p:sp>
        <p:nvSpPr>
          <p:cNvPr id="89" name="Google Shape;89;p16"/>
          <p:cNvSpPr/>
          <p:nvPr/>
        </p:nvSpPr>
        <p:spPr>
          <a:xfrm>
            <a:off x="6309360" y="1645920"/>
            <a:ext cx="2194560" cy="1965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lang="en" sz="1050">
                <a:solidFill>
                  <a:srgbClr val="334155"/>
                </a:solidFill>
                <a:latin typeface="Calibri"/>
                <a:ea typeface="Calibri"/>
                <a:cs typeface="Calibri"/>
                <a:sym typeface="Calibri"/>
              </a:rPr>
              <a:t>RL can learn policies directly from interaction and may adapt better to dynamic demand environments. Recent work (Oroojlooyjadid et al.) shows deep RL can match or exceed classical methods in complex settings.</a:t>
            </a:r>
            <a:endParaRPr sz="10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50"/>
              <a:buFont typeface="Calibri"/>
              <a:buNone/>
            </a:pPr>
            <a:r>
              <a:rPr lang="en" sz="1050">
                <a:solidFill>
                  <a:srgbClr val="334155"/>
                </a:solidFill>
                <a:latin typeface="Calibri"/>
                <a:ea typeface="Calibri"/>
                <a:cs typeface="Calibri"/>
                <a:sym typeface="Calibri"/>
              </a:rPr>
              <a:t>Gap: compare the performance of the RL policy with that of the classical analytical baseline</a:t>
            </a:r>
            <a:endParaRPr sz="1050">
              <a:solidFill>
                <a:schemeClr val="dk1"/>
              </a:solidFill>
              <a:latin typeface="Calibri"/>
              <a:ea typeface="Calibri"/>
              <a:cs typeface="Calibri"/>
              <a:sym typeface="Calibri"/>
            </a:endParaRPr>
          </a:p>
        </p:txBody>
      </p:sp>
      <p:sp>
        <p:nvSpPr>
          <p:cNvPr id="90" name="Google Shape;90;p16"/>
          <p:cNvSpPr/>
          <p:nvPr/>
        </p:nvSpPr>
        <p:spPr>
          <a:xfrm>
            <a:off x="457200" y="41605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i="1" lang="en" sz="1200">
                <a:solidFill>
                  <a:srgbClr val="64748B"/>
                </a:solidFill>
                <a:latin typeface="Calibri"/>
                <a:ea typeface="Calibri"/>
                <a:cs typeface="Calibri"/>
                <a:sym typeface="Calibri"/>
              </a:rPr>
              <a:t>Our project examines where RL matches or exceeds traditional inventory optimization methods.</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5F9"/>
        </a:solidFill>
      </p:bgPr>
    </p:bg>
    <p:spTree>
      <p:nvGrpSpPr>
        <p:cNvPr id="95" name="Shape 95"/>
        <p:cNvGrpSpPr/>
        <p:nvPr/>
      </p:nvGrpSpPr>
      <p:grpSpPr>
        <a:xfrm>
          <a:off x="0" y="0"/>
          <a:ext cx="0" cy="0"/>
          <a:chOff x="0" y="0"/>
          <a:chExt cx="0" cy="0"/>
        </a:xfrm>
      </p:grpSpPr>
      <p:sp>
        <p:nvSpPr>
          <p:cNvPr id="96" name="Google Shape;96;p17"/>
          <p:cNvSpPr/>
          <p:nvPr/>
        </p:nvSpPr>
        <p:spPr>
          <a:xfrm>
            <a:off x="0" y="0"/>
            <a:ext cx="109728" cy="5143500"/>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7"/>
          <p:cNvSpPr/>
          <p:nvPr/>
        </p:nvSpPr>
        <p:spPr>
          <a:xfrm>
            <a:off x="457200" y="320040"/>
            <a:ext cx="502920" cy="502920"/>
          </a:xfrm>
          <a:prstGeom prst="ellipse">
            <a:avLst/>
          </a:prstGeom>
          <a:solidFill>
            <a:srgbClr val="E0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8" name="Google Shape;98;p17"/>
          <p:cNvPicPr preferRelativeResize="0"/>
          <p:nvPr/>
        </p:nvPicPr>
        <p:blipFill rotWithShape="1">
          <a:blip r:embed="rId3">
            <a:alphaModFix/>
          </a:blip>
          <a:srcRect b="0" l="0" r="0" t="0"/>
          <a:stretch/>
        </p:blipFill>
        <p:spPr>
          <a:xfrm>
            <a:off x="548640" y="411480"/>
            <a:ext cx="320040" cy="320040"/>
          </a:xfrm>
          <a:prstGeom prst="rect">
            <a:avLst/>
          </a:prstGeom>
          <a:noFill/>
          <a:ln>
            <a:noFill/>
          </a:ln>
        </p:spPr>
      </p:pic>
      <p:sp>
        <p:nvSpPr>
          <p:cNvPr id="99" name="Google Shape;99;p17"/>
          <p:cNvSpPr/>
          <p:nvPr/>
        </p:nvSpPr>
        <p:spPr>
          <a:xfrm>
            <a:off x="1097280" y="320040"/>
            <a:ext cx="6400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2800"/>
              <a:buFont typeface="Georgia"/>
              <a:buNone/>
            </a:pPr>
            <a:r>
              <a:rPr b="1" lang="en" sz="2800">
                <a:solidFill>
                  <a:srgbClr val="1B2A4A"/>
                </a:solidFill>
                <a:latin typeface="Georgia"/>
                <a:ea typeface="Georgia"/>
                <a:cs typeface="Georgia"/>
                <a:sym typeface="Georgia"/>
              </a:rPr>
              <a:t>Planned Methodology</a:t>
            </a:r>
            <a:endParaRPr sz="2800">
              <a:solidFill>
                <a:schemeClr val="dk1"/>
              </a:solidFill>
              <a:latin typeface="Calibri"/>
              <a:ea typeface="Calibri"/>
              <a:cs typeface="Calibri"/>
              <a:sym typeface="Calibri"/>
            </a:endParaRPr>
          </a:p>
        </p:txBody>
      </p:sp>
      <p:sp>
        <p:nvSpPr>
          <p:cNvPr id="100" name="Google Shape;100;p17"/>
          <p:cNvSpPr/>
          <p:nvPr/>
        </p:nvSpPr>
        <p:spPr>
          <a:xfrm>
            <a:off x="457200" y="1051560"/>
            <a:ext cx="3931920" cy="18288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17"/>
          <p:cNvSpPr/>
          <p:nvPr/>
        </p:nvSpPr>
        <p:spPr>
          <a:xfrm>
            <a:off x="640080" y="1161288"/>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7377"/>
              </a:buClr>
              <a:buSzPts val="1000"/>
              <a:buFont typeface="Calibri"/>
              <a:buNone/>
            </a:pPr>
            <a:r>
              <a:rPr b="1" lang="en" sz="1000">
                <a:solidFill>
                  <a:srgbClr val="0D7377"/>
                </a:solidFill>
                <a:latin typeface="Calibri"/>
                <a:ea typeface="Calibri"/>
                <a:cs typeface="Calibri"/>
                <a:sym typeface="Calibri"/>
              </a:rPr>
              <a:t>ENVIRONMENT DESIGN</a:t>
            </a:r>
            <a:endParaRPr sz="1000">
              <a:solidFill>
                <a:schemeClr val="dk1"/>
              </a:solidFill>
              <a:latin typeface="Calibri"/>
              <a:ea typeface="Calibri"/>
              <a:cs typeface="Calibri"/>
              <a:sym typeface="Calibri"/>
            </a:endParaRPr>
          </a:p>
        </p:txBody>
      </p:sp>
      <p:sp>
        <p:nvSpPr>
          <p:cNvPr id="102" name="Google Shape;102;p17"/>
          <p:cNvSpPr/>
          <p:nvPr/>
        </p:nvSpPr>
        <p:spPr>
          <a:xfrm>
            <a:off x="640080" y="1463040"/>
            <a:ext cx="3566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lang="en" sz="1050">
                <a:solidFill>
                  <a:srgbClr val="334155"/>
                </a:solidFill>
                <a:latin typeface="Calibri"/>
                <a:ea typeface="Calibri"/>
                <a:cs typeface="Calibri"/>
                <a:sym typeface="Calibri"/>
              </a:rPr>
              <a:t>Build a retail inventory simulation with uncertain customer demand, holding cost, stockout penalty, ordering decision at each period</a:t>
            </a:r>
            <a:endParaRPr sz="1050">
              <a:solidFill>
                <a:schemeClr val="dk1"/>
              </a:solidFill>
              <a:latin typeface="Calibri"/>
              <a:ea typeface="Calibri"/>
              <a:cs typeface="Calibri"/>
              <a:sym typeface="Calibri"/>
            </a:endParaRPr>
          </a:p>
        </p:txBody>
      </p:sp>
      <p:sp>
        <p:nvSpPr>
          <p:cNvPr id="103" name="Google Shape;103;p17"/>
          <p:cNvSpPr/>
          <p:nvPr/>
        </p:nvSpPr>
        <p:spPr>
          <a:xfrm>
            <a:off x="640080" y="2011680"/>
            <a:ext cx="3566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1" lang="en" sz="1000">
                <a:solidFill>
                  <a:srgbClr val="334155"/>
                </a:solidFill>
                <a:latin typeface="Calibri"/>
                <a:ea typeface="Calibri"/>
                <a:cs typeface="Calibri"/>
                <a:sym typeface="Calibri"/>
              </a:rPr>
              <a:t>State: </a:t>
            </a:r>
            <a:r>
              <a:rPr lang="en" sz="1000">
                <a:solidFill>
                  <a:srgbClr val="334155"/>
                </a:solidFill>
                <a:latin typeface="Calibri"/>
                <a:ea typeface="Calibri"/>
                <a:cs typeface="Calibri"/>
                <a:sym typeface="Calibri"/>
              </a:rPr>
              <a:t>inventory level, recent demand, demand regime</a:t>
            </a:r>
            <a:endParaRPr sz="1000">
              <a:solidFill>
                <a:schemeClr val="dk1"/>
              </a:solidFill>
              <a:latin typeface="Calibri"/>
              <a:ea typeface="Calibri"/>
              <a:cs typeface="Calibri"/>
              <a:sym typeface="Calibri"/>
            </a:endParaRPr>
          </a:p>
          <a:p>
            <a:pPr indent="0" lvl="0" marL="0" marR="0" rtl="0" algn="l">
              <a:spcBef>
                <a:spcPts val="400"/>
              </a:spcBef>
              <a:spcAft>
                <a:spcPts val="0"/>
              </a:spcAft>
              <a:buClr>
                <a:srgbClr val="334155"/>
              </a:buClr>
              <a:buSzPts val="1000"/>
              <a:buFont typeface="Calibri"/>
              <a:buNone/>
            </a:pPr>
            <a:r>
              <a:rPr b="1" lang="en" sz="1000">
                <a:solidFill>
                  <a:srgbClr val="334155"/>
                </a:solidFill>
                <a:latin typeface="Calibri"/>
                <a:ea typeface="Calibri"/>
                <a:cs typeface="Calibri"/>
                <a:sym typeface="Calibri"/>
              </a:rPr>
              <a:t>Action: </a:t>
            </a:r>
            <a:r>
              <a:rPr lang="en" sz="1000">
                <a:solidFill>
                  <a:srgbClr val="334155"/>
                </a:solidFill>
                <a:latin typeface="Calibri"/>
                <a:ea typeface="Calibri"/>
                <a:cs typeface="Calibri"/>
                <a:sym typeface="Calibri"/>
              </a:rPr>
              <a:t>discrete order quantity</a:t>
            </a:r>
            <a:endParaRPr sz="1000">
              <a:solidFill>
                <a:schemeClr val="dk1"/>
              </a:solidFill>
              <a:latin typeface="Calibri"/>
              <a:ea typeface="Calibri"/>
              <a:cs typeface="Calibri"/>
              <a:sym typeface="Calibri"/>
            </a:endParaRPr>
          </a:p>
          <a:p>
            <a:pPr indent="0" lvl="0" marL="0" marR="0" rtl="0" algn="l">
              <a:spcBef>
                <a:spcPts val="400"/>
              </a:spcBef>
              <a:spcAft>
                <a:spcPts val="0"/>
              </a:spcAft>
              <a:buClr>
                <a:srgbClr val="334155"/>
              </a:buClr>
              <a:buSzPts val="1000"/>
              <a:buFont typeface="Calibri"/>
              <a:buNone/>
            </a:pPr>
            <a:r>
              <a:rPr b="1" lang="en" sz="1000">
                <a:solidFill>
                  <a:srgbClr val="334155"/>
                </a:solidFill>
                <a:latin typeface="Calibri"/>
                <a:ea typeface="Calibri"/>
                <a:cs typeface="Calibri"/>
                <a:sym typeface="Calibri"/>
              </a:rPr>
              <a:t>Reward: </a:t>
            </a:r>
            <a:r>
              <a:rPr lang="en" sz="1000">
                <a:solidFill>
                  <a:srgbClr val="334155"/>
                </a:solidFill>
                <a:latin typeface="Calibri"/>
                <a:ea typeface="Calibri"/>
                <a:cs typeface="Calibri"/>
                <a:sym typeface="Calibri"/>
              </a:rPr>
              <a:t>negative total cost (holding + stockout + ordering)</a:t>
            </a:r>
            <a:endParaRPr sz="1000">
              <a:solidFill>
                <a:schemeClr val="dk1"/>
              </a:solidFill>
              <a:latin typeface="Calibri"/>
              <a:ea typeface="Calibri"/>
              <a:cs typeface="Calibri"/>
              <a:sym typeface="Calibri"/>
            </a:endParaRPr>
          </a:p>
        </p:txBody>
      </p:sp>
      <p:sp>
        <p:nvSpPr>
          <p:cNvPr id="104" name="Google Shape;104;p17"/>
          <p:cNvSpPr/>
          <p:nvPr/>
        </p:nvSpPr>
        <p:spPr>
          <a:xfrm>
            <a:off x="4754880" y="1051560"/>
            <a:ext cx="3931920" cy="18288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17"/>
          <p:cNvSpPr/>
          <p:nvPr/>
        </p:nvSpPr>
        <p:spPr>
          <a:xfrm>
            <a:off x="4937760" y="1161288"/>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7377"/>
              </a:buClr>
              <a:buSzPts val="1000"/>
              <a:buFont typeface="Calibri"/>
              <a:buNone/>
            </a:pPr>
            <a:r>
              <a:rPr b="1" lang="en" sz="1000">
                <a:solidFill>
                  <a:srgbClr val="0D7377"/>
                </a:solidFill>
                <a:latin typeface="Calibri"/>
                <a:ea typeface="Calibri"/>
                <a:cs typeface="Calibri"/>
                <a:sym typeface="Calibri"/>
              </a:rPr>
              <a:t>APPROACHES</a:t>
            </a:r>
            <a:endParaRPr sz="1000">
              <a:solidFill>
                <a:schemeClr val="dk1"/>
              </a:solidFill>
              <a:latin typeface="Calibri"/>
              <a:ea typeface="Calibri"/>
              <a:cs typeface="Calibri"/>
              <a:sym typeface="Calibri"/>
            </a:endParaRPr>
          </a:p>
        </p:txBody>
      </p:sp>
      <p:sp>
        <p:nvSpPr>
          <p:cNvPr id="106" name="Google Shape;106;p17"/>
          <p:cNvSpPr/>
          <p:nvPr/>
        </p:nvSpPr>
        <p:spPr>
          <a:xfrm>
            <a:off x="4937760" y="1463040"/>
            <a:ext cx="35661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b="1" lang="en" sz="1050">
                <a:solidFill>
                  <a:srgbClr val="334155"/>
                </a:solidFill>
                <a:latin typeface="Calibri"/>
                <a:ea typeface="Calibri"/>
                <a:cs typeface="Calibri"/>
                <a:sym typeface="Calibri"/>
              </a:rPr>
              <a:t>Baseline: </a:t>
            </a:r>
            <a:r>
              <a:rPr lang="en" sz="1050">
                <a:solidFill>
                  <a:srgbClr val="334155"/>
                </a:solidFill>
                <a:latin typeface="Calibri"/>
                <a:ea typeface="Calibri"/>
                <a:cs typeface="Calibri"/>
                <a:sym typeface="Calibri"/>
              </a:rPr>
              <a:t>Newsvendor formula under stationary demand assumptions</a:t>
            </a:r>
            <a:endParaRPr sz="1050">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a:p>
            <a:pPr indent="0" lvl="0" marL="0" marR="0" rtl="0" algn="l">
              <a:spcBef>
                <a:spcPts val="400"/>
              </a:spcBef>
              <a:spcAft>
                <a:spcPts val="0"/>
              </a:spcAft>
              <a:buClr>
                <a:srgbClr val="334155"/>
              </a:buClr>
              <a:buSzPts val="1050"/>
              <a:buFont typeface="Calibri"/>
              <a:buNone/>
            </a:pPr>
            <a:r>
              <a:rPr b="1" lang="en" sz="1050">
                <a:solidFill>
                  <a:srgbClr val="334155"/>
                </a:solidFill>
                <a:latin typeface="Calibri"/>
                <a:ea typeface="Calibri"/>
                <a:cs typeface="Calibri"/>
                <a:sym typeface="Calibri"/>
              </a:rPr>
              <a:t>RL Agents: </a:t>
            </a:r>
            <a:r>
              <a:rPr lang="en" sz="1050">
                <a:solidFill>
                  <a:srgbClr val="334155"/>
                </a:solidFill>
                <a:latin typeface="Calibri"/>
                <a:ea typeface="Calibri"/>
                <a:cs typeface="Calibri"/>
                <a:sym typeface="Calibri"/>
              </a:rPr>
              <a:t>Deep Q-Network (primary) and Proximal Policy Optimization (comparison)</a:t>
            </a:r>
            <a:endParaRPr sz="1050">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a:p>
            <a:pPr indent="0" lvl="0" marL="0" marR="0" rtl="0" algn="l">
              <a:spcBef>
                <a:spcPts val="400"/>
              </a:spcBef>
              <a:spcAft>
                <a:spcPts val="0"/>
              </a:spcAft>
              <a:buClr>
                <a:srgbClr val="334155"/>
              </a:buClr>
              <a:buSzPts val="1050"/>
              <a:buFont typeface="Calibri"/>
              <a:buNone/>
            </a:pPr>
            <a:r>
              <a:rPr b="1" lang="en" sz="1050">
                <a:solidFill>
                  <a:srgbClr val="334155"/>
                </a:solidFill>
                <a:latin typeface="Calibri"/>
                <a:ea typeface="Calibri"/>
                <a:cs typeface="Calibri"/>
                <a:sym typeface="Calibri"/>
              </a:rPr>
              <a:t>Design analysis: </a:t>
            </a:r>
            <a:r>
              <a:rPr lang="en" sz="1050">
                <a:solidFill>
                  <a:srgbClr val="334155"/>
                </a:solidFill>
                <a:latin typeface="Calibri"/>
                <a:ea typeface="Calibri"/>
                <a:cs typeface="Calibri"/>
                <a:sym typeface="Calibri"/>
              </a:rPr>
              <a:t>Test sensitivity to key choices (e.g. replay buffer size, reward scaling)</a:t>
            </a:r>
            <a:endParaRPr sz="1050">
              <a:solidFill>
                <a:schemeClr val="dk1"/>
              </a:solidFill>
              <a:latin typeface="Calibri"/>
              <a:ea typeface="Calibri"/>
              <a:cs typeface="Calibri"/>
              <a:sym typeface="Calibri"/>
            </a:endParaRPr>
          </a:p>
        </p:txBody>
      </p:sp>
      <p:sp>
        <p:nvSpPr>
          <p:cNvPr id="107" name="Google Shape;107;p17"/>
          <p:cNvSpPr/>
          <p:nvPr/>
        </p:nvSpPr>
        <p:spPr>
          <a:xfrm>
            <a:off x="457200" y="3108960"/>
            <a:ext cx="8229600" cy="1051560"/>
          </a:xfrm>
          <a:prstGeom prst="rect">
            <a:avLst/>
          </a:prstGeom>
          <a:solidFill>
            <a:srgbClr val="0B25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8" name="Google Shape;108;p17"/>
          <p:cNvPicPr preferRelativeResize="0"/>
          <p:nvPr/>
        </p:nvPicPr>
        <p:blipFill rotWithShape="1">
          <a:blip r:embed="rId4">
            <a:alphaModFix/>
          </a:blip>
          <a:srcRect b="0" l="0" r="0" t="0"/>
          <a:stretch/>
        </p:blipFill>
        <p:spPr>
          <a:xfrm>
            <a:off x="685800" y="3337560"/>
            <a:ext cx="502920" cy="502920"/>
          </a:xfrm>
          <a:prstGeom prst="rect">
            <a:avLst/>
          </a:prstGeom>
          <a:noFill/>
          <a:ln>
            <a:noFill/>
          </a:ln>
        </p:spPr>
      </p:pic>
      <p:sp>
        <p:nvSpPr>
          <p:cNvPr id="109" name="Google Shape;109;p17"/>
          <p:cNvSpPr/>
          <p:nvPr/>
        </p:nvSpPr>
        <p:spPr>
          <a:xfrm>
            <a:off x="1417320" y="3200400"/>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19B"/>
              </a:buClr>
              <a:buSzPts val="1000"/>
              <a:buFont typeface="Calibri"/>
              <a:buNone/>
            </a:pPr>
            <a:r>
              <a:rPr b="1" lang="en" sz="1000">
                <a:solidFill>
                  <a:srgbClr val="14919B"/>
                </a:solidFill>
                <a:latin typeface="Calibri"/>
                <a:ea typeface="Calibri"/>
                <a:cs typeface="Calibri"/>
                <a:sym typeface="Calibri"/>
              </a:rPr>
              <a:t>EXTENSION</a:t>
            </a:r>
            <a:endParaRPr sz="1000">
              <a:solidFill>
                <a:schemeClr val="dk1"/>
              </a:solidFill>
              <a:latin typeface="Calibri"/>
              <a:ea typeface="Calibri"/>
              <a:cs typeface="Calibri"/>
              <a:sym typeface="Calibri"/>
            </a:endParaRPr>
          </a:p>
        </p:txBody>
      </p:sp>
      <p:sp>
        <p:nvSpPr>
          <p:cNvPr id="110" name="Google Shape;110;p17"/>
          <p:cNvSpPr/>
          <p:nvPr/>
        </p:nvSpPr>
        <p:spPr>
          <a:xfrm>
            <a:off x="1417320" y="3493008"/>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EF2"/>
              </a:buClr>
              <a:buSzPts val="1100"/>
              <a:buFont typeface="Calibri"/>
              <a:buNone/>
            </a:pPr>
            <a:r>
              <a:rPr lang="en" sz="1100">
                <a:solidFill>
                  <a:srgbClr val="E8EEF2"/>
                </a:solidFill>
                <a:latin typeface="Calibri"/>
                <a:ea typeface="Calibri"/>
                <a:cs typeface="Calibri"/>
                <a:sym typeface="Calibri"/>
              </a:rPr>
              <a:t>Test both methods under non-stationary demand where the distribution shifts over time — seasonal sinusoidal patterns and gradual trend drift. Evaluate whether RL adapts where the newsvendor solution breaks down.</a:t>
            </a:r>
            <a:endParaRPr sz="1100">
              <a:solidFill>
                <a:schemeClr val="dk1"/>
              </a:solidFill>
              <a:latin typeface="Calibri"/>
              <a:ea typeface="Calibri"/>
              <a:cs typeface="Calibri"/>
              <a:sym typeface="Calibri"/>
            </a:endParaRPr>
          </a:p>
        </p:txBody>
      </p:sp>
      <p:sp>
        <p:nvSpPr>
          <p:cNvPr id="111" name="Google Shape;111;p17"/>
          <p:cNvSpPr/>
          <p:nvPr/>
        </p:nvSpPr>
        <p:spPr>
          <a:xfrm>
            <a:off x="457200" y="4434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i="1" lang="en" sz="1200">
                <a:solidFill>
                  <a:srgbClr val="64748B"/>
                </a:solidFill>
                <a:latin typeface="Calibri"/>
                <a:ea typeface="Calibri"/>
                <a:cs typeface="Calibri"/>
                <a:sym typeface="Calibri"/>
              </a:rPr>
              <a:t>We will compare a learned RL policy against a classical analytical policy under both stationary and non-stationary demand.</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116" name="Shape 116"/>
        <p:cNvGrpSpPr/>
        <p:nvPr/>
      </p:nvGrpSpPr>
      <p:grpSpPr>
        <a:xfrm>
          <a:off x="0" y="0"/>
          <a:ext cx="0" cy="0"/>
          <a:chOff x="0" y="0"/>
          <a:chExt cx="0" cy="0"/>
        </a:xfrm>
      </p:grpSpPr>
      <p:sp>
        <p:nvSpPr>
          <p:cNvPr id="117" name="Google Shape;117;p18"/>
          <p:cNvSpPr/>
          <p:nvPr/>
        </p:nvSpPr>
        <p:spPr>
          <a:xfrm>
            <a:off x="0" y="0"/>
            <a:ext cx="109728" cy="5143500"/>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18"/>
          <p:cNvSpPr/>
          <p:nvPr/>
        </p:nvSpPr>
        <p:spPr>
          <a:xfrm>
            <a:off x="457200" y="320040"/>
            <a:ext cx="502920" cy="502920"/>
          </a:xfrm>
          <a:prstGeom prst="ellipse">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18"/>
          <p:cNvPicPr preferRelativeResize="0"/>
          <p:nvPr/>
        </p:nvPicPr>
        <p:blipFill rotWithShape="1">
          <a:blip r:embed="rId3">
            <a:alphaModFix/>
          </a:blip>
          <a:srcRect b="0" l="0" r="0" t="0"/>
          <a:stretch/>
        </p:blipFill>
        <p:spPr>
          <a:xfrm>
            <a:off x="548640" y="411480"/>
            <a:ext cx="320040" cy="320040"/>
          </a:xfrm>
          <a:prstGeom prst="rect">
            <a:avLst/>
          </a:prstGeom>
          <a:noFill/>
          <a:ln>
            <a:noFill/>
          </a:ln>
        </p:spPr>
      </p:pic>
      <p:sp>
        <p:nvSpPr>
          <p:cNvPr id="120" name="Google Shape;120;p18"/>
          <p:cNvSpPr/>
          <p:nvPr/>
        </p:nvSpPr>
        <p:spPr>
          <a:xfrm>
            <a:off x="1097280" y="320040"/>
            <a:ext cx="6400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Georgia"/>
              <a:buNone/>
            </a:pPr>
            <a:r>
              <a:rPr b="1" lang="en" sz="2800">
                <a:solidFill>
                  <a:srgbClr val="FFFFFF"/>
                </a:solidFill>
                <a:latin typeface="Georgia"/>
                <a:ea typeface="Georgia"/>
                <a:cs typeface="Georgia"/>
                <a:sym typeface="Georgia"/>
              </a:rPr>
              <a:t>Evaluation &amp; Team Roles</a:t>
            </a:r>
            <a:endParaRPr sz="2800">
              <a:solidFill>
                <a:schemeClr val="dk1"/>
              </a:solidFill>
              <a:latin typeface="Calibri"/>
              <a:ea typeface="Calibri"/>
              <a:cs typeface="Calibri"/>
              <a:sym typeface="Calibri"/>
            </a:endParaRPr>
          </a:p>
        </p:txBody>
      </p:sp>
      <p:sp>
        <p:nvSpPr>
          <p:cNvPr id="121" name="Google Shape;121;p18"/>
          <p:cNvSpPr/>
          <p:nvPr/>
        </p:nvSpPr>
        <p:spPr>
          <a:xfrm>
            <a:off x="457200" y="1051560"/>
            <a:ext cx="3931920" cy="14630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18"/>
          <p:cNvSpPr/>
          <p:nvPr/>
        </p:nvSpPr>
        <p:spPr>
          <a:xfrm>
            <a:off x="685800" y="11612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19B"/>
              </a:buClr>
              <a:buSzPts val="1000"/>
              <a:buFont typeface="Calibri"/>
              <a:buNone/>
            </a:pPr>
            <a:r>
              <a:rPr b="1" lang="en" sz="1000">
                <a:solidFill>
                  <a:srgbClr val="14919B"/>
                </a:solidFill>
                <a:latin typeface="Calibri"/>
                <a:ea typeface="Calibri"/>
                <a:cs typeface="Calibri"/>
                <a:sym typeface="Calibri"/>
              </a:rPr>
              <a:t>EVALUATION METRICS</a:t>
            </a:r>
            <a:endParaRPr sz="1000">
              <a:solidFill>
                <a:schemeClr val="dk1"/>
              </a:solidFill>
              <a:latin typeface="Calibri"/>
              <a:ea typeface="Calibri"/>
              <a:cs typeface="Calibri"/>
              <a:sym typeface="Calibri"/>
            </a:endParaRPr>
          </a:p>
        </p:txBody>
      </p:sp>
      <p:sp>
        <p:nvSpPr>
          <p:cNvPr id="123" name="Google Shape;123;p18"/>
          <p:cNvSpPr/>
          <p:nvPr/>
        </p:nvSpPr>
        <p:spPr>
          <a:xfrm>
            <a:off x="685800" y="1463040"/>
            <a:ext cx="3474720" cy="9601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8EEF2"/>
              </a:buClr>
              <a:buSzPts val="1100"/>
              <a:buFont typeface="Calibri"/>
              <a:buChar char="•"/>
            </a:pPr>
            <a:r>
              <a:rPr lang="en" sz="1100">
                <a:solidFill>
                  <a:srgbClr val="E8EEF2"/>
                </a:solidFill>
                <a:latin typeface="Calibri"/>
                <a:ea typeface="Calibri"/>
                <a:cs typeface="Calibri"/>
                <a:sym typeface="Calibri"/>
              </a:rPr>
              <a:t>Total inventory cost</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E8EEF2"/>
              </a:buClr>
              <a:buSzPts val="1100"/>
              <a:buFont typeface="Calibri"/>
              <a:buChar char="•"/>
            </a:pPr>
            <a:r>
              <a:rPr lang="en" sz="1100">
                <a:solidFill>
                  <a:srgbClr val="E8EEF2"/>
                </a:solidFill>
                <a:latin typeface="Calibri"/>
                <a:ea typeface="Calibri"/>
                <a:cs typeface="Calibri"/>
                <a:sym typeface="Calibri"/>
              </a:rPr>
              <a:t>Stockout frequency</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E8EEF2"/>
              </a:buClr>
              <a:buSzPts val="1100"/>
              <a:buFont typeface="Calibri"/>
              <a:buChar char="•"/>
            </a:pPr>
            <a:r>
              <a:rPr lang="en" sz="1100">
                <a:solidFill>
                  <a:srgbClr val="E8EEF2"/>
                </a:solidFill>
                <a:latin typeface="Calibri"/>
                <a:ea typeface="Calibri"/>
                <a:cs typeface="Calibri"/>
                <a:sym typeface="Calibri"/>
              </a:rPr>
              <a:t>Holding cost</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E8EEF2"/>
              </a:buClr>
              <a:buSzPts val="1100"/>
              <a:buFont typeface="Calibri"/>
              <a:buChar char="•"/>
            </a:pPr>
            <a:r>
              <a:rPr lang="en" sz="1100">
                <a:solidFill>
                  <a:srgbClr val="E8EEF2"/>
                </a:solidFill>
                <a:latin typeface="Calibri"/>
                <a:ea typeface="Calibri"/>
                <a:cs typeface="Calibri"/>
                <a:sym typeface="Calibri"/>
              </a:rPr>
              <a:t>Service level / fulfillment rate</a:t>
            </a:r>
            <a:endParaRPr sz="1100">
              <a:solidFill>
                <a:schemeClr val="dk1"/>
              </a:solidFill>
              <a:latin typeface="Calibri"/>
              <a:ea typeface="Calibri"/>
              <a:cs typeface="Calibri"/>
              <a:sym typeface="Calibri"/>
            </a:endParaRPr>
          </a:p>
        </p:txBody>
      </p:sp>
      <p:sp>
        <p:nvSpPr>
          <p:cNvPr id="124" name="Google Shape;124;p18"/>
          <p:cNvSpPr/>
          <p:nvPr/>
        </p:nvSpPr>
        <p:spPr>
          <a:xfrm>
            <a:off x="4754880" y="1051560"/>
            <a:ext cx="3931920" cy="14630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18"/>
          <p:cNvSpPr/>
          <p:nvPr/>
        </p:nvSpPr>
        <p:spPr>
          <a:xfrm>
            <a:off x="4983480" y="11612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19B"/>
              </a:buClr>
              <a:buSzPts val="1000"/>
              <a:buFont typeface="Calibri"/>
              <a:buNone/>
            </a:pPr>
            <a:r>
              <a:rPr b="1" lang="en" sz="1000">
                <a:solidFill>
                  <a:srgbClr val="14919B"/>
                </a:solidFill>
                <a:latin typeface="Calibri"/>
                <a:ea typeface="Calibri"/>
                <a:cs typeface="Calibri"/>
                <a:sym typeface="Calibri"/>
              </a:rPr>
              <a:t>EXPECTED OUTCOMES</a:t>
            </a:r>
            <a:endParaRPr sz="1000">
              <a:solidFill>
                <a:schemeClr val="dk1"/>
              </a:solidFill>
              <a:latin typeface="Calibri"/>
              <a:ea typeface="Calibri"/>
              <a:cs typeface="Calibri"/>
              <a:sym typeface="Calibri"/>
            </a:endParaRPr>
          </a:p>
        </p:txBody>
      </p:sp>
      <p:sp>
        <p:nvSpPr>
          <p:cNvPr id="126" name="Google Shape;126;p18"/>
          <p:cNvSpPr/>
          <p:nvPr/>
        </p:nvSpPr>
        <p:spPr>
          <a:xfrm>
            <a:off x="4983480" y="1463040"/>
            <a:ext cx="34747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EF2"/>
              </a:buClr>
              <a:buSzPts val="1100"/>
              <a:buFont typeface="Calibri"/>
              <a:buNone/>
            </a:pPr>
            <a:r>
              <a:rPr lang="en" sz="1100">
                <a:solidFill>
                  <a:srgbClr val="E8EEF2"/>
                </a:solidFill>
                <a:latin typeface="Calibri"/>
                <a:ea typeface="Calibri"/>
                <a:cs typeface="Calibri"/>
                <a:sym typeface="Calibri"/>
              </a:rPr>
              <a:t>Under stationary demand, the newsvendor baseline should remain competitive. Under non-stationary demand, RL is expected to adapt better and outperform the analytical solution.</a:t>
            </a:r>
            <a:endParaRPr sz="1100">
              <a:solidFill>
                <a:schemeClr val="dk1"/>
              </a:solidFill>
              <a:latin typeface="Calibri"/>
              <a:ea typeface="Calibri"/>
              <a:cs typeface="Calibri"/>
              <a:sym typeface="Calibri"/>
            </a:endParaRPr>
          </a:p>
        </p:txBody>
      </p:sp>
      <p:sp>
        <p:nvSpPr>
          <p:cNvPr id="127" name="Google Shape;127;p18"/>
          <p:cNvSpPr/>
          <p:nvPr/>
        </p:nvSpPr>
        <p:spPr>
          <a:xfrm>
            <a:off x="457200" y="2743200"/>
            <a:ext cx="8229600" cy="640080"/>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8" name="Google Shape;128;p18"/>
          <p:cNvPicPr preferRelativeResize="0"/>
          <p:nvPr/>
        </p:nvPicPr>
        <p:blipFill rotWithShape="1">
          <a:blip r:embed="rId4">
            <a:alphaModFix/>
          </a:blip>
          <a:srcRect b="0" l="0" r="0" t="0"/>
          <a:stretch/>
        </p:blipFill>
        <p:spPr>
          <a:xfrm>
            <a:off x="640080" y="2862072"/>
            <a:ext cx="365760" cy="365760"/>
          </a:xfrm>
          <a:prstGeom prst="rect">
            <a:avLst/>
          </a:prstGeom>
          <a:noFill/>
          <a:ln>
            <a:noFill/>
          </a:ln>
        </p:spPr>
      </p:pic>
      <p:sp>
        <p:nvSpPr>
          <p:cNvPr id="129" name="Google Shape;129;p18"/>
          <p:cNvSpPr/>
          <p:nvPr/>
        </p:nvSpPr>
        <p:spPr>
          <a:xfrm>
            <a:off x="1143000" y="27432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Expected Contribution:  Highlight when RL provides practical value beyond traditional OR methods for inventory management.</a:t>
            </a:r>
            <a:endParaRPr sz="1200">
              <a:solidFill>
                <a:schemeClr val="dk1"/>
              </a:solidFill>
              <a:latin typeface="Calibri"/>
              <a:ea typeface="Calibri"/>
              <a:cs typeface="Calibri"/>
              <a:sym typeface="Calibri"/>
            </a:endParaRPr>
          </a:p>
        </p:txBody>
      </p:sp>
      <p:sp>
        <p:nvSpPr>
          <p:cNvPr id="130" name="Google Shape;130;p18"/>
          <p:cNvSpPr/>
          <p:nvPr/>
        </p:nvSpPr>
        <p:spPr>
          <a:xfrm>
            <a:off x="457200" y="3611880"/>
            <a:ext cx="1920240" cy="12344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18"/>
          <p:cNvSpPr/>
          <p:nvPr/>
        </p:nvSpPr>
        <p:spPr>
          <a:xfrm>
            <a:off x="457200" y="3721608"/>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19B"/>
              </a:buClr>
              <a:buSzPts val="1100"/>
              <a:buFont typeface="Calibri"/>
              <a:buNone/>
            </a:pPr>
            <a:r>
              <a:rPr b="1" lang="en" sz="1100">
                <a:solidFill>
                  <a:srgbClr val="14919B"/>
                </a:solidFill>
                <a:latin typeface="Calibri"/>
                <a:ea typeface="Calibri"/>
                <a:cs typeface="Calibri"/>
                <a:sym typeface="Calibri"/>
              </a:rPr>
              <a:t>Person 1</a:t>
            </a:r>
            <a:endParaRPr sz="1100">
              <a:solidFill>
                <a:schemeClr val="dk1"/>
              </a:solidFill>
              <a:latin typeface="Calibri"/>
              <a:ea typeface="Calibri"/>
              <a:cs typeface="Calibri"/>
              <a:sym typeface="Calibri"/>
            </a:endParaRPr>
          </a:p>
        </p:txBody>
      </p:sp>
      <p:sp>
        <p:nvSpPr>
          <p:cNvPr id="132" name="Google Shape;132;p18"/>
          <p:cNvSpPr/>
          <p:nvPr/>
        </p:nvSpPr>
        <p:spPr>
          <a:xfrm>
            <a:off x="594360" y="402336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Inventory simulator</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(environment design)</a:t>
            </a:r>
            <a:endParaRPr sz="1000">
              <a:solidFill>
                <a:schemeClr val="dk1"/>
              </a:solidFill>
              <a:latin typeface="Calibri"/>
              <a:ea typeface="Calibri"/>
              <a:cs typeface="Calibri"/>
              <a:sym typeface="Calibri"/>
            </a:endParaRPr>
          </a:p>
        </p:txBody>
      </p:sp>
      <p:sp>
        <p:nvSpPr>
          <p:cNvPr id="133" name="Google Shape;133;p18"/>
          <p:cNvSpPr/>
          <p:nvPr/>
        </p:nvSpPr>
        <p:spPr>
          <a:xfrm>
            <a:off x="2560320" y="3611880"/>
            <a:ext cx="1920240" cy="12344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18"/>
          <p:cNvSpPr/>
          <p:nvPr/>
        </p:nvSpPr>
        <p:spPr>
          <a:xfrm>
            <a:off x="2560320" y="3721608"/>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19B"/>
              </a:buClr>
              <a:buSzPts val="1100"/>
              <a:buFont typeface="Calibri"/>
              <a:buNone/>
            </a:pPr>
            <a:r>
              <a:rPr b="1" lang="en" sz="1100">
                <a:solidFill>
                  <a:srgbClr val="14919B"/>
                </a:solidFill>
                <a:latin typeface="Calibri"/>
                <a:ea typeface="Calibri"/>
                <a:cs typeface="Calibri"/>
                <a:sym typeface="Calibri"/>
              </a:rPr>
              <a:t>Person 2</a:t>
            </a:r>
            <a:endParaRPr sz="1100">
              <a:solidFill>
                <a:schemeClr val="dk1"/>
              </a:solidFill>
              <a:latin typeface="Calibri"/>
              <a:ea typeface="Calibri"/>
              <a:cs typeface="Calibri"/>
              <a:sym typeface="Calibri"/>
            </a:endParaRPr>
          </a:p>
        </p:txBody>
      </p:sp>
      <p:sp>
        <p:nvSpPr>
          <p:cNvPr id="135" name="Google Shape;135;p18"/>
          <p:cNvSpPr/>
          <p:nvPr/>
        </p:nvSpPr>
        <p:spPr>
          <a:xfrm>
            <a:off x="2697480" y="402336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RL agent implementation</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(DQN &amp; PPO)</a:t>
            </a:r>
            <a:endParaRPr sz="1000">
              <a:solidFill>
                <a:schemeClr val="dk1"/>
              </a:solidFill>
              <a:latin typeface="Calibri"/>
              <a:ea typeface="Calibri"/>
              <a:cs typeface="Calibri"/>
              <a:sym typeface="Calibri"/>
            </a:endParaRPr>
          </a:p>
        </p:txBody>
      </p:sp>
      <p:sp>
        <p:nvSpPr>
          <p:cNvPr id="136" name="Google Shape;136;p18"/>
          <p:cNvSpPr/>
          <p:nvPr/>
        </p:nvSpPr>
        <p:spPr>
          <a:xfrm>
            <a:off x="4663440" y="3611880"/>
            <a:ext cx="1920240" cy="12344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18"/>
          <p:cNvSpPr/>
          <p:nvPr/>
        </p:nvSpPr>
        <p:spPr>
          <a:xfrm>
            <a:off x="4663440" y="3721608"/>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19B"/>
              </a:buClr>
              <a:buSzPts val="1100"/>
              <a:buFont typeface="Calibri"/>
              <a:buNone/>
            </a:pPr>
            <a:r>
              <a:rPr b="1" lang="en" sz="1100">
                <a:solidFill>
                  <a:srgbClr val="14919B"/>
                </a:solidFill>
                <a:latin typeface="Calibri"/>
                <a:ea typeface="Calibri"/>
                <a:cs typeface="Calibri"/>
                <a:sym typeface="Calibri"/>
              </a:rPr>
              <a:t>Person 3</a:t>
            </a:r>
            <a:endParaRPr sz="1100">
              <a:solidFill>
                <a:schemeClr val="dk1"/>
              </a:solidFill>
              <a:latin typeface="Calibri"/>
              <a:ea typeface="Calibri"/>
              <a:cs typeface="Calibri"/>
              <a:sym typeface="Calibri"/>
            </a:endParaRPr>
          </a:p>
        </p:txBody>
      </p:sp>
      <p:sp>
        <p:nvSpPr>
          <p:cNvPr id="138" name="Google Shape;138;p18"/>
          <p:cNvSpPr/>
          <p:nvPr/>
        </p:nvSpPr>
        <p:spPr>
          <a:xfrm>
            <a:off x="4800600" y="402336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Analytical baseline,</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demand scenarios &amp;</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evaluation pipeline</a:t>
            </a:r>
            <a:endParaRPr sz="1000">
              <a:solidFill>
                <a:schemeClr val="dk1"/>
              </a:solidFill>
              <a:latin typeface="Calibri"/>
              <a:ea typeface="Calibri"/>
              <a:cs typeface="Calibri"/>
              <a:sym typeface="Calibri"/>
            </a:endParaRPr>
          </a:p>
        </p:txBody>
      </p:sp>
      <p:sp>
        <p:nvSpPr>
          <p:cNvPr id="139" name="Google Shape;139;p18"/>
          <p:cNvSpPr/>
          <p:nvPr/>
        </p:nvSpPr>
        <p:spPr>
          <a:xfrm>
            <a:off x="6766560" y="3611880"/>
            <a:ext cx="1920240" cy="1234440"/>
          </a:xfrm>
          <a:prstGeom prst="rect">
            <a:avLst/>
          </a:prstGeom>
          <a:solidFill>
            <a:srgbClr val="133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18"/>
          <p:cNvSpPr/>
          <p:nvPr/>
        </p:nvSpPr>
        <p:spPr>
          <a:xfrm>
            <a:off x="6766560" y="3721608"/>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19B"/>
              </a:buClr>
              <a:buSzPts val="1100"/>
              <a:buFont typeface="Calibri"/>
              <a:buNone/>
            </a:pPr>
            <a:r>
              <a:rPr b="1" lang="en" sz="1100">
                <a:solidFill>
                  <a:srgbClr val="14919B"/>
                </a:solidFill>
                <a:latin typeface="Calibri"/>
                <a:ea typeface="Calibri"/>
                <a:cs typeface="Calibri"/>
                <a:sym typeface="Calibri"/>
              </a:rPr>
              <a:t>Person 4</a:t>
            </a:r>
            <a:endParaRPr sz="1100">
              <a:solidFill>
                <a:schemeClr val="dk1"/>
              </a:solidFill>
              <a:latin typeface="Calibri"/>
              <a:ea typeface="Calibri"/>
              <a:cs typeface="Calibri"/>
              <a:sym typeface="Calibri"/>
            </a:endParaRPr>
          </a:p>
        </p:txBody>
      </p:sp>
      <p:sp>
        <p:nvSpPr>
          <p:cNvPr id="141" name="Google Shape;141;p18"/>
          <p:cNvSpPr/>
          <p:nvPr/>
        </p:nvSpPr>
        <p:spPr>
          <a:xfrm>
            <a:off x="6903720" y="402336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Experiments, analysis</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E8EEF2"/>
              </a:buClr>
              <a:buSzPts val="1000"/>
              <a:buFont typeface="Calibri"/>
              <a:buNone/>
            </a:pPr>
            <a:r>
              <a:rPr lang="en" sz="1000">
                <a:solidFill>
                  <a:srgbClr val="E8EEF2"/>
                </a:solidFill>
                <a:latin typeface="Calibri"/>
                <a:ea typeface="Calibri"/>
                <a:cs typeface="Calibri"/>
                <a:sym typeface="Calibri"/>
              </a:rPr>
              <a:t>&amp; report writing</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